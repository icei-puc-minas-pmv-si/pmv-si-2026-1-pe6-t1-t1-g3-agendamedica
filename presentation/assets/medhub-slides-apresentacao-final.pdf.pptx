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62"/>
    <a:srgbClr val="0BB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95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7376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1047750" y="838200"/>
            <a:ext cx="742950" cy="742950"/>
          </a:xfrm>
          <a:prstGeom prst="roundRect">
            <a:avLst>
              <a:gd name="adj" fmla="val 25641"/>
            </a:avLst>
          </a:prstGeom>
          <a:solidFill>
            <a:srgbClr val="0B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1000125"/>
            <a:ext cx="41910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81200" y="1026795"/>
            <a:ext cx="724425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ARQUITETURA DE SISTEMAS DISTRIBUÍDOS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7750" y="3459956"/>
            <a:ext cx="16678275" cy="1245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900" b="1" kern="0" spc="-396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</a:t>
            </a:r>
            <a:r>
              <a:rPr lang="en-US" sz="9900" b="1" kern="0" spc="-396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047750" y="4952643"/>
            <a:ext cx="1667827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kern="0" spc="-29" dirty="0">
                <a:solidFill>
                  <a:srgbClr val="FFFFFF">
                    <a:alpha val="92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Distribuído de Agenda Médica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1047750" y="7379970"/>
            <a:ext cx="161925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47750" y="7749540"/>
            <a:ext cx="166782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de Sistemas Distribuídos · </a:t>
            </a:r>
            <a:r>
              <a:rPr lang="en-US" sz="2100" b="1" dirty="0">
                <a:solidFill>
                  <a:srgbClr val="0B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</a:t>
            </a:r>
            <a:r>
              <a:rPr lang="en-US" sz="2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6º semestre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8317230"/>
            <a:ext cx="2644259" cy="49911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245870" y="8429625"/>
            <a:ext cx="23273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Alice Abreu dos Reis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825359" y="8317230"/>
            <a:ext cx="3527227" cy="49911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023479" y="8429625"/>
            <a:ext cx="32368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dos Reis Nascimento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485936" y="8317230"/>
            <a:ext cx="3874413" cy="49911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84056" y="8429625"/>
            <a:ext cx="35944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Martha Beatriz Siqueira da Silva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47750" y="9063297"/>
            <a:ext cx="4025860" cy="49911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245870" y="9175692"/>
            <a:ext cx="37503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Omar Petronilio Martins de Abreu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271730" y="9063297"/>
            <a:ext cx="2835355" cy="49911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469850" y="9175692"/>
            <a:ext cx="25241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Letícia Oliveira Aquino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66782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7922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Agendamentos fragmentados, pacientes prejudicados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032760"/>
            <a:ext cx="5206961" cy="2843570"/>
          </a:xfrm>
          <a:prstGeom prst="roundRect">
            <a:avLst>
              <a:gd name="adj" fmla="val 7369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9700" y="3432810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A3E6F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3604260"/>
            <a:ext cx="3810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9700" y="4404360"/>
            <a:ext cx="4617552" cy="111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000"/>
              </a:lnSpc>
            </a:pPr>
            <a:r>
              <a:rPr lang="pt-BR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Médicos sem controle centralizado dos próprios agendamentos</a:t>
            </a:r>
            <a:endParaRPr lang="en-US" sz="1900" dirty="0">
              <a:solidFill>
                <a:srgbClr val="1E2A3A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540461" y="3032760"/>
            <a:ext cx="5206961" cy="2843570"/>
          </a:xfrm>
          <a:prstGeom prst="roundRect">
            <a:avLst>
              <a:gd name="adj" fmla="val 7369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902411" y="3432810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A3E6F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861" y="3604260"/>
            <a:ext cx="38100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2411" y="4404360"/>
            <a:ext cx="4617552" cy="111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Pacientes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precisam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ligar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para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marcar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uma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consulta</a:t>
            </a:r>
          </a:p>
        </p:txBody>
      </p:sp>
      <p:sp>
        <p:nvSpPr>
          <p:cNvPr id="12" name="Shape 8"/>
          <p:cNvSpPr/>
          <p:nvPr/>
        </p:nvSpPr>
        <p:spPr>
          <a:xfrm>
            <a:off x="12033171" y="3032760"/>
            <a:ext cx="5206961" cy="2843570"/>
          </a:xfrm>
          <a:prstGeom prst="roundRect">
            <a:avLst>
              <a:gd name="adj" fmla="val 7369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12395121" y="3432810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A3E6F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6571" y="360426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95121" y="4404360"/>
            <a:ext cx="4617552" cy="111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Cancelamentos geram horários vagos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que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são</a:t>
            </a:r>
            <a:r>
              <a:rPr lang="en-US" sz="1900" dirty="0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900" dirty="0" err="1">
                <a:solidFill>
                  <a:srgbClr val="1E2A3A"/>
                </a:solidFill>
                <a:latin typeface="Inter" pitchFamily="34" charset="0"/>
                <a:ea typeface="Inter" pitchFamily="34" charset="-122"/>
              </a:rPr>
              <a:t>perdidos</a:t>
            </a:r>
            <a:endParaRPr lang="en-US" sz="1900" dirty="0">
              <a:solidFill>
                <a:srgbClr val="1E2A3A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1047750" y="7585948"/>
            <a:ext cx="16192500" cy="1862852"/>
          </a:xfrm>
          <a:prstGeom prst="roundRect">
            <a:avLst>
              <a:gd name="adj" fmla="val 11249"/>
            </a:avLst>
          </a:prstGeom>
          <a:solidFill>
            <a:srgbClr val="1A3E6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Text 12"/>
          <p:cNvSpPr/>
          <p:nvPr/>
        </p:nvSpPr>
        <p:spPr>
          <a:xfrm>
            <a:off x="1524000" y="8107799"/>
            <a:ext cx="177522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50" b="1" kern="0" spc="-193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42%</a:t>
            </a:r>
            <a:endParaRPr lang="en-US" sz="6450" dirty="0"/>
          </a:p>
        </p:txBody>
      </p:sp>
      <p:sp>
        <p:nvSpPr>
          <p:cNvPr id="18" name="Shape 13"/>
          <p:cNvSpPr/>
          <p:nvPr/>
        </p:nvSpPr>
        <p:spPr>
          <a:xfrm>
            <a:off x="3642122" y="7966948"/>
            <a:ext cx="9525" cy="110085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4070747" y="7982188"/>
            <a:ext cx="13245704" cy="44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>
              <a:lnSpc>
                <a:spcPct val="132000"/>
              </a:lnSpc>
            </a:pPr>
            <a:r>
              <a:rPr lang="en-US" sz="8000" dirty="0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das instituições privadas relatam dificuldades na confirmação de </a:t>
            </a:r>
            <a:r>
              <a:rPr lang="en-US" sz="8000" dirty="0" err="1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consultas</a:t>
            </a:r>
            <a:r>
              <a:rPr lang="en-US" sz="8000" dirty="0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— </a:t>
            </a:r>
            <a:r>
              <a:rPr lang="en-US" sz="8000" b="1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perdas</a:t>
            </a:r>
            <a:r>
              <a:rPr lang="en-US" sz="8000" b="1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de </a:t>
            </a:r>
            <a:r>
              <a:rPr lang="en-US" sz="8000" b="1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até</a:t>
            </a:r>
            <a:r>
              <a:rPr lang="en-US" sz="8000" b="1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R$ 140 mil </a:t>
            </a:r>
            <a:r>
              <a:rPr lang="en-US" sz="8000" b="1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por</a:t>
            </a:r>
            <a:r>
              <a:rPr lang="en-US" sz="8000" b="1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ano</a:t>
            </a:r>
            <a:r>
              <a:rPr lang="en-US" sz="8000" b="1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</a:t>
            </a:r>
            <a:r>
              <a:rPr lang="en-US" sz="8000" dirty="0" err="1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em</a:t>
            </a:r>
            <a:r>
              <a:rPr lang="en-US" sz="8000" dirty="0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</a:t>
            </a:r>
            <a:r>
              <a:rPr lang="en-US" sz="8000" dirty="0" err="1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cada</a:t>
            </a:r>
            <a:r>
              <a:rPr lang="en-US" sz="8000" dirty="0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</a:t>
            </a:r>
            <a:r>
              <a:rPr lang="en-US" sz="8000" dirty="0" err="1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clínica</a:t>
            </a:r>
            <a:r>
              <a:rPr lang="en-US" sz="8000" dirty="0">
                <a:solidFill>
                  <a:srgbClr val="FFFFFF">
                    <a:alpha val="94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.</a:t>
            </a:r>
            <a:endParaRPr lang="en-US" sz="8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32000"/>
              </a:lnSpc>
            </a:pPr>
            <a:endParaRPr lang="en-US" sz="2100" dirty="0"/>
          </a:p>
          <a:p>
            <a:pPr marL="0" indent="0" algn="l">
              <a:lnSpc>
                <a:spcPct val="132000"/>
              </a:lnSpc>
              <a:buNone/>
            </a:pP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4053246" y="8317230"/>
            <a:ext cx="2141101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4053246" y="8795147"/>
            <a:ext cx="13074051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ANAHP, 2022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366451" y="9441180"/>
            <a:ext cx="9500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5A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05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422558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98270"/>
            <a:ext cx="14225588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MedHub: uma plataforma, todas as agendas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25040"/>
            <a:ext cx="14225588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plataforma </a:t>
            </a:r>
            <a:r>
              <a:rPr lang="en-US" sz="2700" b="1" dirty="0">
                <a:solidFill>
                  <a:srgbClr val="1A3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distribuída </a:t>
            </a:r>
            <a:r>
              <a:rPr lang="en-US" sz="27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conecta pacientes, médicos e clínicas em um único sistema integrado.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3535680"/>
            <a:ext cx="5206961" cy="5913120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436370" y="3962400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E6F8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20" y="4133850"/>
            <a:ext cx="3810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6370" y="4895850"/>
            <a:ext cx="456261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pacientes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436370" y="5654040"/>
            <a:ext cx="4562612" cy="763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lnSpc>
                <a:spcPct val="136000"/>
              </a:lnSpc>
              <a:buNone/>
            </a:pPr>
            <a:r>
              <a:rPr lang="en-US" sz="2000" dirty="0" err="1">
                <a:solidFill>
                  <a:srgbClr val="5A6B82"/>
                </a:solidFill>
                <a:latin typeface="Inter"/>
                <a:ea typeface="Inter"/>
              </a:rPr>
              <a:t>Agendar</a:t>
            </a:r>
            <a:r>
              <a:rPr lang="en-US" sz="2000" dirty="0">
                <a:solidFill>
                  <a:srgbClr val="5A6B82"/>
                </a:solidFill>
                <a:latin typeface="Inter"/>
                <a:ea typeface="Inter"/>
              </a:rPr>
              <a:t> </a:t>
            </a:r>
            <a:r>
              <a:rPr lang="en-US" sz="2000" dirty="0" err="1">
                <a:solidFill>
                  <a:srgbClr val="5A6B82"/>
                </a:solidFill>
                <a:latin typeface="Inter"/>
                <a:ea typeface="Inter"/>
              </a:rPr>
              <a:t>consultas</a:t>
            </a:r>
            <a:r>
              <a:rPr lang="en-US" sz="2000" dirty="0">
                <a:solidFill>
                  <a:srgbClr val="5A6B82"/>
                </a:solidFill>
                <a:latin typeface="Inter"/>
                <a:ea typeface="Inter"/>
              </a:rPr>
              <a:t> 24/7 </a:t>
            </a:r>
            <a:r>
              <a:rPr lang="en-US" sz="2000" dirty="0" err="1">
                <a:solidFill>
                  <a:srgbClr val="5A6B82"/>
                </a:solidFill>
                <a:latin typeface="Inter"/>
                <a:ea typeface="Inter"/>
              </a:rPr>
              <a:t>pelo</a:t>
            </a:r>
            <a:r>
              <a:rPr lang="en-US" sz="2000" dirty="0">
                <a:solidFill>
                  <a:srgbClr val="5A6B82"/>
                </a:solidFill>
                <a:latin typeface="Inter"/>
                <a:ea typeface="Inter"/>
              </a:rPr>
              <a:t> </a:t>
            </a:r>
            <a:r>
              <a:rPr lang="en-US" sz="2000" dirty="0" err="1">
                <a:solidFill>
                  <a:srgbClr val="5A6B82"/>
                </a:solidFill>
                <a:latin typeface="Inter"/>
                <a:ea typeface="Inter"/>
              </a:rPr>
              <a:t>aplicativo</a:t>
            </a:r>
            <a:r>
              <a:rPr lang="en-US" sz="2000" dirty="0">
                <a:solidFill>
                  <a:srgbClr val="5A6B82"/>
                </a:solidFill>
                <a:latin typeface="Inter"/>
                <a:ea typeface="Inter"/>
              </a:rPr>
              <a:t>, sem </a:t>
            </a:r>
            <a:r>
              <a:rPr lang="en-US" sz="2000" dirty="0" err="1">
                <a:solidFill>
                  <a:srgbClr val="5A6B82"/>
                </a:solidFill>
                <a:latin typeface="Inter"/>
                <a:ea typeface="Inter"/>
              </a:rPr>
              <a:t>precisar</a:t>
            </a:r>
            <a:r>
              <a:rPr lang="en-US" sz="2000" dirty="0">
                <a:solidFill>
                  <a:srgbClr val="5A6B82"/>
                </a:solidFill>
                <a:latin typeface="Inter"/>
                <a:ea typeface="Inter"/>
              </a:rPr>
              <a:t> </a:t>
            </a:r>
            <a:r>
              <a:rPr lang="en-US" sz="2000" dirty="0" err="1">
                <a:solidFill>
                  <a:srgbClr val="5A6B82"/>
                </a:solidFill>
                <a:latin typeface="Inter"/>
                <a:ea typeface="Inter"/>
              </a:rPr>
              <a:t>ligar</a:t>
            </a:r>
            <a:r>
              <a:rPr lang="en-US" sz="2000" dirty="0">
                <a:solidFill>
                  <a:srgbClr val="5A6B82"/>
                </a:solidFill>
                <a:latin typeface="Inter"/>
                <a:ea typeface="Inter"/>
              </a:rPr>
              <a:t>.</a:t>
            </a:r>
          </a:p>
        </p:txBody>
      </p:sp>
      <p:sp>
        <p:nvSpPr>
          <p:cNvPr id="10" name="Shape 7"/>
          <p:cNvSpPr/>
          <p:nvPr/>
        </p:nvSpPr>
        <p:spPr>
          <a:xfrm>
            <a:off x="6540461" y="3535680"/>
            <a:ext cx="5206961" cy="5913120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</p:spPr>
        <p:txBody>
          <a:bodyPr/>
          <a:lstStyle/>
          <a:p>
            <a:endParaRPr lang="pt-BR" sz="2000" dirty="0"/>
          </a:p>
        </p:txBody>
      </p:sp>
      <p:sp>
        <p:nvSpPr>
          <p:cNvPr id="11" name="Shape 8"/>
          <p:cNvSpPr/>
          <p:nvPr/>
        </p:nvSpPr>
        <p:spPr>
          <a:xfrm>
            <a:off x="6929081" y="3962400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E6F8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531" y="4133850"/>
            <a:ext cx="381000" cy="381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29081" y="4895850"/>
            <a:ext cx="456261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médicos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6929081" y="5654040"/>
            <a:ext cx="4562612" cy="763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lnSpc>
                <a:spcPct val="156000"/>
              </a:lnSpc>
              <a:buNone/>
            </a:pPr>
            <a:r>
              <a:rPr lang="pt-BR" sz="2000" dirty="0">
                <a:solidFill>
                  <a:srgbClr val="5A6B82"/>
                </a:solidFill>
                <a:latin typeface="Inter"/>
                <a:ea typeface="Inter"/>
              </a:rPr>
              <a:t>Visibilidade dos próprios agendamentos</a:t>
            </a:r>
            <a:endParaRPr lang="en-US" sz="2000" dirty="0">
              <a:solidFill>
                <a:srgbClr val="5A6B82"/>
              </a:solidFill>
              <a:latin typeface="Inter"/>
              <a:ea typeface="Inter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2033171" y="3535680"/>
            <a:ext cx="5206961" cy="5913120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12421791" y="3962400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E6F8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3241" y="4133850"/>
            <a:ext cx="38100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21791" y="4895850"/>
            <a:ext cx="456261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clínicas</a:t>
            </a:r>
            <a:endParaRPr lang="en-US" sz="2850" dirty="0"/>
          </a:p>
        </p:txBody>
      </p:sp>
      <p:sp>
        <p:nvSpPr>
          <p:cNvPr id="19" name="Text 14"/>
          <p:cNvSpPr/>
          <p:nvPr/>
        </p:nvSpPr>
        <p:spPr>
          <a:xfrm>
            <a:off x="12421791" y="5654040"/>
            <a:ext cx="4562612" cy="763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6000"/>
              </a:lnSpc>
            </a:pPr>
            <a:r>
              <a:rPr lang="pt-BR" sz="2000" dirty="0">
                <a:solidFill>
                  <a:srgbClr val="5A6B82"/>
                </a:solidFill>
                <a:latin typeface="Inter"/>
                <a:ea typeface="Inter"/>
              </a:rPr>
              <a:t>Gestão centralizada de todos os agendamentos</a:t>
            </a:r>
            <a:endParaRPr lang="en-US" sz="2000" dirty="0">
              <a:solidFill>
                <a:srgbClr val="5A6B82"/>
              </a:solidFill>
              <a:latin typeface="Inter"/>
              <a:ea typeface="Inter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6360735" y="9441180"/>
            <a:ext cx="95571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5A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05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66782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ARQUITETURA &amp; FUNCIONALIDADES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01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funciona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702368"/>
            <a:ext cx="3238500" cy="1215390"/>
          </a:xfrm>
          <a:prstGeom prst="roundRect">
            <a:avLst>
              <a:gd name="adj" fmla="val 14107"/>
            </a:avLst>
          </a:prstGeom>
          <a:solidFill>
            <a:srgbClr val="F4F6FA"/>
          </a:solidFill>
          <a:ln w="7620">
            <a:solidFill>
              <a:srgbClr val="E2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41120" y="4005262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A3E6F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995" y="4148137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60270" y="4217669"/>
            <a:ext cx="1595914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Mobile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047750" y="5165407"/>
            <a:ext cx="3238500" cy="1796415"/>
          </a:xfrm>
          <a:prstGeom prst="roundRect">
            <a:avLst>
              <a:gd name="adj" fmla="val 9544"/>
            </a:avLst>
          </a:prstGeom>
          <a:solidFill>
            <a:srgbClr val="F4F6FA"/>
          </a:solidFill>
          <a:ln w="7620">
            <a:solidFill>
              <a:srgbClr val="E2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341120" y="575881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A3E6F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995" y="5901690"/>
            <a:ext cx="323850" cy="3238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60270" y="5901690"/>
            <a:ext cx="1908810" cy="401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Frontend</a:t>
            </a:r>
            <a:endParaRPr lang="en-US" sz="2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00" y="5217795"/>
            <a:ext cx="438150" cy="228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10800000">
            <a:off x="5221605" y="4379536"/>
            <a:ext cx="704850" cy="1905000"/>
          </a:xfrm>
          <a:prstGeom prst="roundRect">
            <a:avLst>
              <a:gd name="adj" fmla="val 18919"/>
            </a:avLst>
          </a:prstGeom>
          <a:solidFill>
            <a:srgbClr val="0BBC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5420764" y="4614862"/>
            <a:ext cx="438150" cy="1371600"/>
          </a:xfrm>
          <a:prstGeom prst="rect">
            <a:avLst/>
          </a:prstGeom>
          <a:noFill/>
          <a:ln/>
        </p:spPr>
        <p:txBody>
          <a:bodyPr vert="vert270"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950" b="1" kern="0" spc="273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REST</a:t>
            </a:r>
            <a:endParaRPr lang="en-US" sz="1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010" y="5217795"/>
            <a:ext cx="43815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61810" y="2396490"/>
            <a:ext cx="10378440" cy="5871210"/>
          </a:xfrm>
          <a:prstGeom prst="roundRect">
            <a:avLst>
              <a:gd name="adj" fmla="val 2920"/>
            </a:avLst>
          </a:prstGeom>
          <a:solidFill>
            <a:srgbClr val="1A3E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3"/>
          <p:cNvSpPr/>
          <p:nvPr/>
        </p:nvSpPr>
        <p:spPr>
          <a:xfrm>
            <a:off x="7280910" y="4076700"/>
            <a:ext cx="9540240" cy="1150620"/>
          </a:xfrm>
          <a:prstGeom prst="roundRect">
            <a:avLst>
              <a:gd name="adj" fmla="val 11589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7536180" y="4385310"/>
            <a:ext cx="533400" cy="533400"/>
          </a:xfrm>
          <a:prstGeom prst="roundRect">
            <a:avLst>
              <a:gd name="adj" fmla="val 32143"/>
            </a:avLst>
          </a:prstGeom>
          <a:solidFill>
            <a:srgbClr val="0BBCD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480" y="4499610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1030" y="4293870"/>
            <a:ext cx="3877331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Node.js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8241030" y="4735830"/>
            <a:ext cx="3877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 &amp; orquestração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7280910" y="5436870"/>
            <a:ext cx="9540240" cy="1150620"/>
          </a:xfrm>
          <a:prstGeom prst="roundRect">
            <a:avLst>
              <a:gd name="adj" fmla="val 11589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7536180" y="5745480"/>
            <a:ext cx="533400" cy="533400"/>
          </a:xfrm>
          <a:prstGeom prst="roundRect">
            <a:avLst>
              <a:gd name="adj" fmla="val 32143"/>
            </a:avLst>
          </a:prstGeom>
          <a:solidFill>
            <a:srgbClr val="0BBCD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480" y="5859780"/>
            <a:ext cx="304800" cy="304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41030" y="5654040"/>
            <a:ext cx="335159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de Dados</a:t>
            </a:r>
            <a:endParaRPr lang="en-US" sz="2100" dirty="0"/>
          </a:p>
        </p:txBody>
      </p:sp>
      <p:sp>
        <p:nvSpPr>
          <p:cNvPr id="28" name="Text 20"/>
          <p:cNvSpPr/>
          <p:nvPr/>
        </p:nvSpPr>
        <p:spPr>
          <a:xfrm>
            <a:off x="8241030" y="6096000"/>
            <a:ext cx="335159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Agendas, usuários &amp; histórico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1047750" y="8686800"/>
            <a:ext cx="5283161" cy="762000"/>
          </a:xfrm>
          <a:prstGeom prst="roundRect">
            <a:avLst>
              <a:gd name="adj" fmla="val 50000"/>
            </a:avLst>
          </a:prstGeom>
          <a:solidFill>
            <a:srgbClr val="E6F8FB"/>
          </a:solidFill>
          <a:ln w="7620">
            <a:solidFill>
              <a:srgbClr val="0B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0170" y="8943975"/>
            <a:ext cx="247650" cy="2476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760220" y="8884920"/>
            <a:ext cx="38530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Agendamento em tempo real</a:t>
            </a:r>
            <a:endParaRPr lang="en-US" sz="1950" dirty="0"/>
          </a:p>
        </p:txBody>
      </p:sp>
      <p:sp>
        <p:nvSpPr>
          <p:cNvPr id="32" name="Shape 23"/>
          <p:cNvSpPr/>
          <p:nvPr/>
        </p:nvSpPr>
        <p:spPr>
          <a:xfrm>
            <a:off x="6502361" y="8686800"/>
            <a:ext cx="5283279" cy="762000"/>
          </a:xfrm>
          <a:prstGeom prst="roundRect">
            <a:avLst>
              <a:gd name="adj" fmla="val 50000"/>
            </a:avLst>
          </a:prstGeom>
          <a:solidFill>
            <a:srgbClr val="E6F8FB"/>
          </a:solidFill>
          <a:ln w="7620">
            <a:solidFill>
              <a:srgbClr val="0B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4781" y="8943975"/>
            <a:ext cx="247650" cy="2476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14831" y="8884920"/>
            <a:ext cx="434665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Prevenção de conflito de horários</a:t>
            </a:r>
            <a:endParaRPr lang="en-US" sz="1950" dirty="0"/>
          </a:p>
        </p:txBody>
      </p:sp>
      <p:sp>
        <p:nvSpPr>
          <p:cNvPr id="35" name="Shape 25"/>
          <p:cNvSpPr/>
          <p:nvPr/>
        </p:nvSpPr>
        <p:spPr>
          <a:xfrm>
            <a:off x="11957090" y="8686800"/>
            <a:ext cx="5283161" cy="762000"/>
          </a:xfrm>
          <a:prstGeom prst="roundRect">
            <a:avLst>
              <a:gd name="adj" fmla="val 50000"/>
            </a:avLst>
          </a:prstGeom>
          <a:solidFill>
            <a:srgbClr val="E6F8FB"/>
          </a:solidFill>
          <a:ln w="7620">
            <a:solidFill>
              <a:srgbClr val="0B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69510" y="8943975"/>
            <a:ext cx="247650" cy="2476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2669560" y="8884920"/>
            <a:ext cx="406778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 err="1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Notificações</a:t>
            </a:r>
            <a:r>
              <a:rPr lang="en-US" sz="1950" b="1" dirty="0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950" b="1" dirty="0" err="1">
                <a:solidFill>
                  <a:srgbClr val="1A3E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automáticas</a:t>
            </a:r>
            <a:endParaRPr lang="en-US" sz="1950" dirty="0"/>
          </a:p>
        </p:txBody>
      </p:sp>
      <p:sp>
        <p:nvSpPr>
          <p:cNvPr id="38" name="Text 27"/>
          <p:cNvSpPr/>
          <p:nvPr/>
        </p:nvSpPr>
        <p:spPr>
          <a:xfrm>
            <a:off x="16346567" y="9441180"/>
            <a:ext cx="96988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5A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05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737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47750" y="838200"/>
            <a:ext cx="166782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22070"/>
            <a:ext cx="16678275" cy="899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Impacto esperado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4049316"/>
            <a:ext cx="38100" cy="918924"/>
          </a:xfrm>
          <a:prstGeom prst="rect">
            <a:avLst/>
          </a:prstGeom>
          <a:solidFill>
            <a:srgbClr val="0BBC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71600" y="4049316"/>
            <a:ext cx="14196060" cy="957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MedHub elimina a fragmentação das agendas médicas ao centralizar o acesso de pacientes e profissionais em uma </a:t>
            </a:r>
            <a:r>
              <a:rPr lang="en-US" sz="2700" b="1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única plataforma distribuída</a:t>
            </a: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47750" y="5292090"/>
            <a:ext cx="38100" cy="918924"/>
          </a:xfrm>
          <a:prstGeom prst="rect">
            <a:avLst/>
          </a:prstGeom>
          <a:solidFill>
            <a:srgbClr val="0BBC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71600" y="5292090"/>
            <a:ext cx="14196060" cy="957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resultado: </a:t>
            </a:r>
            <a:r>
              <a:rPr lang="en-US" sz="2700" b="1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horários perdidos, menos burocracia e mais acesso à saúde </a:t>
            </a: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867691" y="88392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0B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1516" y="8963025"/>
            <a:ext cx="361950" cy="3619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648741" y="8854440"/>
            <a:ext cx="1667709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</a:t>
            </a:r>
            <a:r>
              <a:rPr lang="en-US" sz="3000" b="1" kern="0" spc="-60" dirty="0">
                <a:solidFill>
                  <a:srgbClr val="0B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6350496" y="9441180"/>
            <a:ext cx="96595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FFFF">
                    <a:alpha val="5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05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Personalizar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Inter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Alice Abreu dos Reis</cp:lastModifiedBy>
  <cp:revision>4</cp:revision>
  <dcterms:created xsi:type="dcterms:W3CDTF">2026-06-09T02:38:02Z</dcterms:created>
  <dcterms:modified xsi:type="dcterms:W3CDTF">2026-06-10T00:13:36Z</dcterms:modified>
</cp:coreProperties>
</file>